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Enrolled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 batch</c:v>
                  </c:pt>
                  <c:pt idx="1">
                    <c:v>2025 batch</c:v>
                  </c:pt>
                  <c:pt idx="2">
                    <c:v>2026 (in progress)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329</c:v>
                </c:pt>
                <c:pt idx="1">
                  <c:v>273</c:v>
                </c:pt>
                <c:pt idx="2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CBD8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Publisher</c:v>
                  </c:pt>
                  <c:pt idx="1">
                    <c:v>Chat/NIAA</c:v>
                  </c:pt>
                  <c:pt idx="2">
                    <c:v>Offline</c:v>
                  </c:pt>
                  <c:pt idx="3">
                    <c:v>Organic</c:v>
                  </c:pt>
                  <c:pt idx="4">
                    <c:v>Direct</c:v>
                  </c:pt>
                  <c:pt idx="5">
                    <c:v>Referral</c:v>
                  </c:pt>
                  <c:pt idx="6">
                    <c:v>Paid Ads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5173</c:v>
                </c:pt>
                <c:pt idx="1">
                  <c:v>783</c:v>
                </c:pt>
                <c:pt idx="2">
                  <c:v>292</c:v>
                </c:pt>
                <c:pt idx="3">
                  <c:v>216</c:v>
                </c:pt>
                <c:pt idx="4">
                  <c:v>89</c:v>
                </c:pt>
                <c:pt idx="5">
                  <c:v>81</c:v>
                </c:pt>
                <c:pt idx="6">
                  <c:v>913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Enrolled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Publisher</c:v>
                  </c:pt>
                  <c:pt idx="1">
                    <c:v>Chat/NIAA</c:v>
                  </c:pt>
                  <c:pt idx="2">
                    <c:v>Offline</c:v>
                  </c:pt>
                  <c:pt idx="3">
                    <c:v>Organic</c:v>
                  </c:pt>
                  <c:pt idx="4">
                    <c:v>Direct</c:v>
                  </c:pt>
                  <c:pt idx="5">
                    <c:v>Referral</c:v>
                  </c:pt>
                  <c:pt idx="6">
                    <c:v>Paid Ads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17</c:v>
                </c:pt>
                <c:pt idx="2">
                  <c:v>31</c:v>
                </c:pt>
                <c:pt idx="3">
                  <c:v>28</c:v>
                </c:pt>
                <c:pt idx="4">
                  <c:v>11</c:v>
                </c:pt>
                <c:pt idx="5">
                  <c:v>12</c:v>
                </c:pt>
                <c:pt idx="6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6B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Lead-to-enrolment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Referral</c:v>
                  </c:pt>
                  <c:pt idx="1">
                    <c:v>Organic</c:v>
                  </c:pt>
                  <c:pt idx="2">
                    <c:v>Direct</c:v>
                  </c:pt>
                  <c:pt idx="3">
                    <c:v>Offline</c:v>
                  </c:pt>
                  <c:pt idx="4">
                    <c:v>Paid Ads</c:v>
                  </c:pt>
                  <c:pt idx="5">
                    <c:v>Chat/NIAA</c:v>
                  </c:pt>
                  <c:pt idx="6">
                    <c:v>Publisher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14.8</c:v>
                </c:pt>
                <c:pt idx="1">
                  <c:v>13</c:v>
                </c:pt>
                <c:pt idx="2">
                  <c:v>12.4</c:v>
                </c:pt>
                <c:pt idx="3">
                  <c:v>10.6</c:v>
                </c:pt>
                <c:pt idx="4">
                  <c:v>3.7</c:v>
                </c:pt>
                <c:pt idx="5">
                  <c:v>2.2</c:v>
                </c:pt>
                <c:pt idx="6">
                  <c:v>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0B2E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0B2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Incoming call</c:v>
                  </c:pt>
                  <c:pt idx="1">
                    <c:v>Website</c:v>
                  </c:pt>
                  <c:pt idx="2">
                    <c:v>Walk-ins</c:v>
                  </c:pt>
                  <c:pt idx="3">
                    <c:v>Referrals</c:v>
                  </c:pt>
                  <c:pt idx="4">
                    <c:v>MAT</c:v>
                  </c:pt>
                  <c:pt idx="5">
                    <c:v>Google Ads</c:v>
                  </c:pt>
                  <c:pt idx="6">
                    <c:v>CAT/ATMA</c:v>
                  </c:pt>
                  <c:pt idx="7">
                    <c:v>Shiksha</c:v>
                  </c:pt>
                  <c:pt idx="8">
                    <c:v>Facebook</c:v>
                  </c:pt>
                  <c:pt idx="9">
                    <c:v>Instagram</c:v>
                  </c:pt>
                  <c:pt idx="10">
                    <c:v>LinkedIn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68</c:v>
                </c:pt>
                <c:pt idx="1">
                  <c:v>55</c:v>
                </c:pt>
                <c:pt idx="2">
                  <c:v>53</c:v>
                </c:pt>
                <c:pt idx="3">
                  <c:v>18</c:v>
                </c:pt>
                <c:pt idx="4">
                  <c:v>15</c:v>
                </c:pt>
                <c:pt idx="5">
                  <c:v>9</c:v>
                </c:pt>
                <c:pt idx="6">
                  <c:v>7</c:v>
                </c:pt>
                <c:pt idx="7">
                  <c:v>7</c:v>
                </c:pt>
                <c:pt idx="8">
                  <c:v>5</c:v>
                </c:pt>
                <c:pt idx="9">
                  <c:v>2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0B2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E9B949"/>
              </a:solidFill>
              <a:effectLst/>
            </c:spPr>
          </c:dPt>
          <c:dPt>
            <c:idx val="4"/>
            <c:bubble3D val="0"/>
            <c:spPr>
              <a:solidFill>
                <a:srgbClr val="94B0B2"/>
              </a:solidFill>
              <a:effectLst/>
            </c:spPr>
          </c:dPt>
          <c:dPt>
            <c:idx val="5"/>
            <c:bubble3D val="0"/>
            <c:spPr>
              <a:solidFill>
                <a:srgbClr val="CBD8D8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Karnataka</c:v>
                </c:pt>
                <c:pt idx="1">
                  <c:v>Andhra</c:v>
                </c:pt>
                <c:pt idx="2">
                  <c:v>Bihar*</c:v>
                </c:pt>
                <c:pt idx="3">
                  <c:v>Kerala</c:v>
                </c:pt>
                <c:pt idx="4">
                  <c:v>Tamil Nadu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50.15</c:v>
                </c:pt>
                <c:pt idx="1">
                  <c:v>8.51</c:v>
                </c:pt>
                <c:pt idx="2">
                  <c:v>6.38</c:v>
                </c:pt>
                <c:pt idx="3">
                  <c:v>5.47</c:v>
                </c:pt>
                <c:pt idx="4">
                  <c:v>5.17</c:v>
                </c:pt>
                <c:pt idx="5">
                  <c:v>24.32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6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840480" cy="384048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MARKET ANALYTICS  •  2024-2026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Our Admissions Are Falling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B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3-year funnel analysis: enrolments dropped from 329 to 273, and most of our marketing money flows to channels that almost never convert. What the data says, and how to reverse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institutional leadership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internal data: 2024 Admission Report, 2025 Report, 2026 Lead-Source vs 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Tell 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from our own 2024-2026 data. Together they explain the decline.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27889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713232" cy="71323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2996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79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-17%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4672" y="319125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Enrolments are falling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353872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dropped from 329 (2024) to 273 (2025) - down 56 students, a 17% fall in one year.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9856" y="1600200"/>
            <a:ext cx="2670048" cy="27889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1874520"/>
            <a:ext cx="713232" cy="71323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02996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2679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675888" y="319125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pay for junk leads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75888" y="353872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campaigns gave 5,173 leads (68% of all) but only 5 admissions - a 0.1% conversion. Money down the drain.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91072" y="1600200"/>
            <a:ext cx="2670048" cy="27889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47104" y="1874520"/>
            <a:ext cx="713232" cy="71323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029968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2679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11-15%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547104" y="319125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channels do the work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47104" y="353872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Organic, Direct &amp; Offline convert at 11-15%. They are tiny in volume but produce most quality admissions.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62288" y="1600200"/>
            <a:ext cx="2670048" cy="27889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18320" y="1874520"/>
            <a:ext cx="713232" cy="71323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029968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18320" y="2679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 of seats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9418320" y="3191256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barely converts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418320" y="353872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2025, Google+FB+Insta+LinkedIn gave just 17 of 240 admissions (7%). Meta delivered 0 in 2026. Spend isn't landing.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0B2E33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aren't falling because we lack leads - we have over 7,500. They fall because most leads come from low-quality paid sources that don't convert, while the channels that actually produce students (referral, organic, walk-ins, offline) are small and under-fed. We are spending on volume, not on what works.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Decline: 329 to 273 Students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per batch. After holding at 329, the 2025 batch fell to 273 - a loss of 56 seats. 2026 is in progress (139 so far).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132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8308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892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BATCH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092440" y="21122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092440" y="24780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in class after 47 cancellations.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09560" y="29718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3081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BATCH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92440" y="33009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-56 students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92440" y="36667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273 enrolled - a 17% drop.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09560" y="416052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4270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SO FAR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92440" y="44897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9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139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092440" y="48554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still open; from 7,578 leads to date.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Leaks (2026 Funnel)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channel's share of LEADS vs its ENROLMENTS. Publisher Campaigns flood us with leads but convert almost none - while small channels punch far above their weight.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2237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703320" cy="1874520"/>
          </a:xfrm>
          <a:prstGeom prst="roundRect">
            <a:avLst>
              <a:gd name="adj" fmla="val 4878"/>
            </a:avLst>
          </a:prstGeom>
          <a:solidFill>
            <a:srgbClr val="F4F7F6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8653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Campaigns = 68% of all leads,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just 5 admissions (0.1%).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Chat/NIAA: 783 leads -&gt; 17 (2.2%).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low yield.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09560" y="3749040"/>
            <a:ext cx="3703320" cy="2057400"/>
          </a:xfrm>
          <a:prstGeom prst="roundRect">
            <a:avLst>
              <a:gd name="adj" fmla="val 4444"/>
            </a:avLst>
          </a:prstGeom>
          <a:solidFill>
            <a:srgbClr val="0B2E33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38770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winners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92440" y="4206240"/>
            <a:ext cx="3383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14.8% • Organic 13% • Direct 12.4% • Offline 10.6%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convert 100-150x better than publishers - but get a fraction of the focus.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Rate by Channel (2026)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Lead-to-enrolment % for each source. This is the single most important chart: it shows which rupees turn into students and which don't.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219456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this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12480" y="2697480"/>
            <a:ext cx="3063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= our real engine.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and direct interest convert best.
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3 = volume traps.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&amp; Chat eat budget and attention for almost no students.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Brings Students 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admissions by source (240 students). Phone calls, website and walk-ins drive 73% of admissions. All paid social combined is just 7%.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20116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7F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21396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from 3 sources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505456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calls, website and walk-ins are warm, high-intent people already interested in us.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46720" y="361188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0B2E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37398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7% from paid social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4105656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9 + FB 5 + Insta 2 + LinkedIn 1 = 17 of 240. We advertise heavily here for little return.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Enrols - and the Risk in 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student demographics. Half our students come from Karnataka and nearly half from Tier-3 towns. A narrow base is easy to lose if local sentiment shifts.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7373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737360" y="3611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city tier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towns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0" y="2596896"/>
            <a:ext cx="576072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0" y="2596896"/>
            <a:ext cx="2747863" cy="310896"/>
          </a:xfrm>
          <a:prstGeom prst="roundRect">
            <a:avLst>
              <a:gd name="adj" fmla="val 11765"/>
            </a:avLst>
          </a:prstGeom>
          <a:solidFill>
            <a:srgbClr val="E76F51"/>
          </a:solidFill>
          <a:ln/>
        </p:spPr>
      </p:sp>
      <p:sp>
        <p:nvSpPr>
          <p:cNvPr id="11" name="Text 8"/>
          <p:cNvSpPr/>
          <p:nvPr/>
        </p:nvSpPr>
        <p:spPr>
          <a:xfrm>
            <a:off x="8325703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cities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0" y="3438144"/>
            <a:ext cx="576072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0" y="3438144"/>
            <a:ext cx="1641805" cy="310896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219645" y="340156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0" y="3968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cities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0" y="4279392"/>
            <a:ext cx="5760720" cy="310896"/>
          </a:xfrm>
          <a:prstGeom prst="roundRect">
            <a:avLst>
              <a:gd name="adj" fmla="val 11765"/>
            </a:avLst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0" y="4279392"/>
            <a:ext cx="1365291" cy="310896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6943131" y="42428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4892040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0B2E3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0" y="498348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one state + Tier-3 towns means our pipeline is fragile. Vernacular outreach and nearby-state expansion reduce the risk.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291072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*Bihar shown from 2024 map labels. Percentages as reported in the 2024 Admission Report.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Admissions Are Falling - In One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connected reasons the data points to. Each one is fixable.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12393F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810512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8288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2478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chases volume, not quality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9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leads come from Publisher Campaigns that convert at 0.1%. Effort is spent processing leads that never enrol.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61104" y="155448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12393F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810512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288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75504" y="1810512"/>
            <a:ext cx="2478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channels are starved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17136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9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organic and walk-ins convert 11-15% but are small and under-invested. Our real engine runs on fumes.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73568" y="155448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123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11312" y="1810512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2880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87968" y="1810512"/>
            <a:ext cx="2478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 isn't working as run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9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gave 0 admissions in 2026; all paid social was 7% of 2025 seats. The money is spent but the funnel leaks.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331720" y="370332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123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9464" y="3959352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/>
          <p:nvPr/>
        </p:nvSpPr>
        <p:spPr>
          <a:xfrm>
            <a:off x="2569464" y="397764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46120" y="3959352"/>
            <a:ext cx="2478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eat the batch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587752" y="461772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9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cancellations in 2024 and 33 in 2025 quietly shrink the final class - 329 enrolled became 276 in class.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044184" y="370332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123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81928" y="3959352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6281928" y="3977640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58584" y="3959352"/>
            <a:ext cx="2478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demographic base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00216" y="461772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9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Karnataka, 48% Tier-3. Any dip in local sentiment hits us hard with no diversified pipeline to cushion it.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Top Indian B-Schools Do Differently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buy more leads - they convert better. Six benchmarked plays that fit exactly where our funnel leaks.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79222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385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response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Replying within 5 min makes a lead up to 21x more likely to convert. Our incoming calls already convert best - answer faster, lose fewer.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61104" y="155448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179222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9385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18105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junk spend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98848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over-paying publisher/aggregator campaigns at 0.1%. Redirect that budget to channels proven to convert for 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73568" y="155448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193024" y="179222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385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3688" y="18105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Retargeting, not just reach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11312" y="246888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Re-show ads to website visitors who didn't enquire. Converts 2-3x better than cold reach - and website is already our #2 source.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98678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330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050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Student-led Reels &amp; video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86384" y="466344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prospect who sees 6 campus Reels is ~3x more likely to enquire. Authentic student video beats paid impressions.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61104" y="374904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398678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413308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40050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days &amp; webinars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98848" y="466344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RSVP'd open-day visitor converts at 35-50% - the same warm intent that makes our walk-ins so effective.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73568" y="3749040"/>
            <a:ext cx="3529584" cy="1993392"/>
          </a:xfrm>
          <a:prstGeom prst="roundRect">
            <a:avLst>
              <a:gd name="adj" fmla="val 4587"/>
            </a:avLst>
          </a:prstGeom>
          <a:solidFill>
            <a:srgbClr val="F4F7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193024" y="398678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328" y="413308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33688" y="400507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referral engine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11312" y="4663440"/>
            <a:ext cx="30723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Google reviews lower cost-per-lead; a formal referral programme scales our best-converting channel (14.8%).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Indian education-marketing benchmarking, MIT/InsideSales speed-to-lead research, Meta/Google admission case studies (2025-26).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Plan: Spend Smarter, Convert More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moves mapped to the data - shift money from junk leads to proven channels and plug the conversion leaks.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282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562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publisher/aggregator spend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CONVERTERS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8096" y="2350008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or slash Publisher Campaigns. Move that budget to referral, organic and offline that convert 100x better.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17282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5623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lead response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21208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&amp; WEB LEADS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517136" y="2350008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+ fast callback on our best sources. Incoming calls already convert highest - protect them.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8046720" y="1508760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172821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85623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capture + nurture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961120" y="2075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8266176" y="2350008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Click-to-WhatsApp on ads &amp; website, auto follow-up sequence. Stop losing warm leads to slow contact.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548640" y="3191256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9808" y="34107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5387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37413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+ better landing pages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463040" y="3758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VISITORS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768096" y="403250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the 25% who come via website. Course-specific pages with one clear enquiry form.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4297680" y="3191256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498848" y="34107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538728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337413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referral programme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212080" y="3758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/ ALUMNI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4517136" y="403250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our 14.8%-converting channel. Turn happy students into a repeatable admissions source.</a:t>
            </a:r>
            <a:endParaRPr lang="en-US" sz="980" dirty="0"/>
          </a:p>
        </p:txBody>
      </p:sp>
      <p:sp>
        <p:nvSpPr>
          <p:cNvPr id="34" name="Shape 27"/>
          <p:cNvSpPr/>
          <p:nvPr/>
        </p:nvSpPr>
        <p:spPr>
          <a:xfrm>
            <a:off x="8046720" y="3191256"/>
            <a:ext cx="35661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47888" y="34107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3538728"/>
            <a:ext cx="310896" cy="3108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961120" y="337413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cost-per-admission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8961120" y="3758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8266176" y="4032504"/>
            <a:ext cx="3154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by channel. Fund what converts, cut what doesn't - decisions on data, not volume.</a:t>
            </a:r>
            <a:endParaRPr lang="en-US" sz="980" dirty="0"/>
          </a:p>
        </p:txBody>
      </p:sp>
      <p:sp>
        <p:nvSpPr>
          <p:cNvPr id="40" name="Text 3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drawn from our own data. Reverse the decline by next cycle.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23774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Today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we get there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Students enrolled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273 (2025)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330+ (next batch)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Recover the 56 lost seats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Publisher lead spend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68% of leads, 0.1% conv.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Cut by 70%+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Stop paying for non-converting leads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Referral admissions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18 (7.5%)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40+ (15%+)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Formal incentivised programme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Lead response time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Hours / manual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Under 5 minutes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Auto-reply + WhatsApp + callback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Cost per admission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Untracked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Tracked by channel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One dashboard, fund what converts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</a:rPr>
                        <a:t>Cancellations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76F51"/>
                          </a:solidFill>
                        </a:rPr>
                        <a:t>47 / 33 a year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</a:rPr>
                        <a:t>Halved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B6E"/>
                          </a:solidFill>
                        </a:rPr>
                        <a:t>Earlier engagement + parent reassurance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Admission Analytics 2024-2026  •  Confidential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943600" cy="5943600"/>
          </a:xfrm>
          <a:prstGeom prst="ellipse">
            <a:avLst/>
          </a:prstGeom>
          <a:solidFill>
            <a:srgbClr val="02809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011680"/>
            <a:ext cx="5029200" cy="50292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have the leads.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funding the wrong ones.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CF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from 329 to 273 isn't a demand problem - it's a spending and conversion problem. Move money out of 0.1% publisher leads and into the referral, organic and walk-in channels that convert at 11-15%, respond in minutes not hours, and the next batch grows again.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578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step: cut junk spend, fund the proven channels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PGDM Admission Analytics 2024-2026</dc:title>
  <dc:subject>PptxGenJS Presentation</dc:subject>
  <dc:creator>Analytics</dc:creator>
  <cp:lastModifiedBy>Analytics</cp:lastModifiedBy>
  <cp:revision>1</cp:revision>
  <dcterms:created xsi:type="dcterms:W3CDTF">2026-06-12T06:44:00Z</dcterms:created>
  <dcterms:modified xsi:type="dcterms:W3CDTF">2026-06-12T06:44:00Z</dcterms:modified>
</cp:coreProperties>
</file>